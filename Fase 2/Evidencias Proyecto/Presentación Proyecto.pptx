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eorgia Pro Light" charset="1" panose="02040302050405020303"/>
      <p:regular r:id="rId15"/>
    </p:embeddedFon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DM Sans Italics" charset="1" panose="00000000000000000000"/>
      <p:regular r:id="rId18"/>
    </p:embeddedFont>
    <p:embeddedFont>
      <p:font typeface="Georgia Pro" charset="1" panose="020405020504050203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03131" y="664721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00000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Capstone - PetStorePOS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93606" y="1764154"/>
            <a:ext cx="7411872" cy="2714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10499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PetStore</a:t>
            </a:r>
          </a:p>
          <a:p>
            <a:pPr algn="l" marL="0" indent="0" lvl="0">
              <a:lnSpc>
                <a:spcPts val="10499"/>
              </a:lnSpc>
            </a:pPr>
            <a:r>
              <a:rPr lang="en-US" sz="10499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Point Of Sale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03131" y="6428074"/>
            <a:ext cx="3705936" cy="192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5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Integrantes</a:t>
            </a:r>
            <a:r>
              <a:rPr lang="en-US" sz="27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l" marL="593730" indent="-296865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Fabián Valenzuela</a:t>
            </a:r>
          </a:p>
          <a:p>
            <a:pPr algn="l" marL="593730" indent="-296865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Martín Mondaca</a:t>
            </a:r>
          </a:p>
          <a:p>
            <a:pPr algn="l" marL="593730" indent="-296865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Diego Silva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835665" y="6465786"/>
            <a:ext cx="4377658" cy="983960"/>
            <a:chOff x="0" y="0"/>
            <a:chExt cx="5836877" cy="13119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709756"/>
              <a:ext cx="5836877" cy="602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0"/>
                </a:lnSpc>
                <a:spcBef>
                  <a:spcPct val="0"/>
                </a:spcBef>
              </a:pPr>
              <a:r>
                <a:rPr lang="en-US" sz="275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Aníbal Sotelo Becerra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836877" cy="602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0"/>
                </a:lnSpc>
                <a:spcBef>
                  <a:spcPct val="0"/>
                </a:spcBef>
              </a:pPr>
              <a:r>
                <a:rPr lang="en-US" b="true" sz="275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Docente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835665" y="7892294"/>
            <a:ext cx="2920103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0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Sección 004D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03131" y="4645025"/>
            <a:ext cx="7556169" cy="94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5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Un sistema de punto de venta de productos y adopción de mascotas con gran accesibilidad.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0" t="-205" r="0" b="-20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0147" y="852164"/>
            <a:ext cx="7607567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El 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0147" y="1797438"/>
            <a:ext cx="9561285" cy="37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tiendas de mascotas dependen de múltiples herramientas (una para el e-commerce, otra para adopciones), lo que resulta ineficiente y desarticulado.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a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usencia de sistemas integrados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y accesibles limita la base de posibles clientes.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Esto afecta negativamente la experiencia de compra y gestión, para personas de distintas capacidades y culturas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0147" y="6700267"/>
            <a:ext cx="9561285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PetStorePOS es un 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sistema que ofrece una gestión unificada con: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E-commerce y proceso de pago.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Catálogo de productos y administración de inventario.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Plataforma de adopciones (con la API Huachitos.cl.)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Todo esto con opciones de accesibilidad como modos de contraste, disponibilidad de TTS y fuente modificable.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0147" y="5750942"/>
            <a:ext cx="760417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Nuestra Solución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57275"/>
            <a:ext cx="8915809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Alcance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83574"/>
            <a:ext cx="8499949" cy="753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 que tiene PetStorePOS: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Punto de compra de productos para mascotas, más un carrito y un apartado de reseñas para quienes compren.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partado de adopción de mascotas, donde se pueden ver descripciones, edad, estado de salud y la opción de ir a la página de Huachitos.cl para adoptarlas.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Apartado de accesibilidad, con ajustes a los elementos visuales de la página, diseño responsivo y navegación por teclado.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Dashboard con visualización de varios elementos de la página, tales como ventas por mes, cantidad de mascotas adoptadas, especie más popular, etc.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hatbot básico para hacer de asistente virtual.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7404" y="0"/>
            <a:ext cx="5060596" cy="10287000"/>
            <a:chOff x="0" y="0"/>
            <a:chExt cx="78401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4019" cy="1593725"/>
            </a:xfrm>
            <a:custGeom>
              <a:avLst/>
              <a:gdLst/>
              <a:ahLst/>
              <a:cxnLst/>
              <a:rect r="r" b="b" t="t" l="l"/>
              <a:pathLst>
                <a:path h="1593725" w="784019">
                  <a:moveTo>
                    <a:pt x="0" y="0"/>
                  </a:moveTo>
                  <a:lnTo>
                    <a:pt x="784019" y="0"/>
                  </a:lnTo>
                  <a:lnTo>
                    <a:pt x="78401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4322" t="0" r="-2432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298905" y="2286820"/>
            <a:ext cx="1249092" cy="1152288"/>
          </a:xfrm>
          <a:custGeom>
            <a:avLst/>
            <a:gdLst/>
            <a:ahLst/>
            <a:cxnLst/>
            <a:rect r="r" b="b" t="t" l="l"/>
            <a:pathLst>
              <a:path h="1152288" w="1249092">
                <a:moveTo>
                  <a:pt x="0" y="0"/>
                </a:moveTo>
                <a:lnTo>
                  <a:pt x="1249092" y="0"/>
                </a:lnTo>
                <a:lnTo>
                  <a:pt x="1249092" y="1152288"/>
                </a:lnTo>
                <a:lnTo>
                  <a:pt x="0" y="1152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82245" y="2286820"/>
            <a:ext cx="1249092" cy="1249092"/>
          </a:xfrm>
          <a:custGeom>
            <a:avLst/>
            <a:gdLst/>
            <a:ahLst/>
            <a:cxnLst/>
            <a:rect r="r" b="b" t="t" l="l"/>
            <a:pathLst>
              <a:path h="1249092" w="1249092">
                <a:moveTo>
                  <a:pt x="0" y="0"/>
                </a:moveTo>
                <a:lnTo>
                  <a:pt x="1249093" y="0"/>
                </a:lnTo>
                <a:lnTo>
                  <a:pt x="1249093" y="1249093"/>
                </a:lnTo>
                <a:lnTo>
                  <a:pt x="0" y="12490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09571"/>
            <a:ext cx="1060113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Problemas Durante el Desarrollo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10921" y="3813483"/>
            <a:ext cx="3375258" cy="4881245"/>
            <a:chOff x="0" y="0"/>
            <a:chExt cx="4500344" cy="650832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083522"/>
              <a:ext cx="4500344" cy="5424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 querer implementar el chatbot, intentamos usar la API de OpenAI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Sin embargo esta requería un pago o token para funcionar, por lo que nos vimos forzados a usar Sonar, la API de PerplexityAI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4500344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FALTA DE RECURSOS PARA CHATBOT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01795" y="3861885"/>
            <a:ext cx="4009992" cy="5624195"/>
            <a:chOff x="0" y="0"/>
            <a:chExt cx="5346656" cy="74989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083522"/>
              <a:ext cx="5346656" cy="6415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Intentamos usar otras APIs gratuitas para traducir la página</a:t>
              </a: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Sin embargo estas tenían problemas como tiempos de carga altos o falta de traducciones. 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Decidimos usar Google Translate para la página en su lugar.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5346656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MALA LOCALIZACIÓN DE OTRAS APIS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31794"/>
            <a:ext cx="847385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</a:pPr>
            <a:r>
              <a:rPr lang="en-US" sz="4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Sobre la Importancia de un Sistema Accesible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2332572"/>
            <a:ext cx="9539398" cy="487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Nos enfocamos tanto en las capacidades del servicio como a la localización y accesibilidad ya que: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A7990"/>
                </a:solidFill>
                <a:latin typeface="DM Sans"/>
                <a:ea typeface="DM Sans"/>
                <a:cs typeface="DM Sans"/>
                <a:sym typeface="DM Sans"/>
              </a:rPr>
              <a:t>Aproximadamente 1.300 millones de personas padecen de alguna discapacidad.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0A7990"/>
                </a:solidFill>
                <a:latin typeface="DM Sans"/>
                <a:ea typeface="DM Sans"/>
                <a:cs typeface="DM Sans"/>
                <a:sym typeface="DM Sans"/>
              </a:rPr>
              <a:t>El 80% de estos casos en países en desarrollo (como Chile)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 marL="906783" indent="-302261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Fuente: ONU, Reporte sobre el día mundial de la discapacidad, 3 de diciembre de 2025.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A7990"/>
                </a:solidFill>
                <a:latin typeface="DM Sans"/>
                <a:ea typeface="DM Sans"/>
                <a:cs typeface="DM Sans"/>
                <a:sym typeface="DM Sans"/>
              </a:rPr>
              <a:t>Un estudio del </a:t>
            </a:r>
            <a:r>
              <a:rPr lang="en-US" b="true" sz="2400">
                <a:solidFill>
                  <a:srgbClr val="0A7990"/>
                </a:solidFill>
                <a:latin typeface="DM Sans Bold"/>
                <a:ea typeface="DM Sans Bold"/>
                <a:cs typeface="DM Sans Bold"/>
                <a:sym typeface="DM Sans Bold"/>
              </a:rPr>
              <a:t>Common Sense Advisory</a:t>
            </a:r>
            <a:r>
              <a:rPr lang="en-US" sz="2400">
                <a:solidFill>
                  <a:srgbClr val="0A7990"/>
                </a:solidFill>
                <a:latin typeface="DM Sans"/>
                <a:ea typeface="DM Sans"/>
                <a:cs typeface="DM Sans"/>
                <a:sym typeface="DM Sans"/>
              </a:rPr>
              <a:t> reveló que el 75% de las personas desean comprar productos en su idioma nativo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 marL="906783" indent="-302261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Fuente: Kinsta, Estadísticas de E-commerce para 2025.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57275"/>
            <a:ext cx="847385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</a:pPr>
            <a:r>
              <a:rPr lang="en-US" sz="4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Objetivo General de PetStorePOS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79545"/>
            <a:ext cx="9539398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Crear una página web que disponga de múltiples herramientas útiles para un punto de venta en línea y una plataforma de adopciones, con opciones de accesibilidad para incluir a un mayor número de personas en la lista de posibles usuarios.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02868"/>
            <a:ext cx="847385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</a:pPr>
            <a:r>
              <a:rPr lang="en-US" sz="4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Objetivos Específicos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25137"/>
            <a:ext cx="9539398" cy="417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Crear una página web que combine e-commerce, catálogos de producto, gestión y administración general.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esto agregarle funciones de accesibilidad y localización acorde a las pautas WCAG (creadas por el W3C), que dicen que una página accesible debería ser </a:t>
            </a:r>
            <a:r>
              <a:rPr lang="en-US" b="true" sz="24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perceptible, operable, comprensible y robusta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Facilitar de esta forma la navegación de la página para personas dificultadas, discapacitadas o de otra habla.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7625" y="3866035"/>
            <a:ext cx="2164226" cy="2099299"/>
          </a:xfrm>
          <a:custGeom>
            <a:avLst/>
            <a:gdLst/>
            <a:ahLst/>
            <a:cxnLst/>
            <a:rect r="r" b="b" t="t" l="l"/>
            <a:pathLst>
              <a:path h="2099299" w="2164226">
                <a:moveTo>
                  <a:pt x="0" y="0"/>
                </a:moveTo>
                <a:lnTo>
                  <a:pt x="2164225" y="0"/>
                </a:lnTo>
                <a:lnTo>
                  <a:pt x="2164225" y="2099299"/>
                </a:lnTo>
                <a:lnTo>
                  <a:pt x="0" y="2099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52178" y="3753029"/>
            <a:ext cx="1938727" cy="2325310"/>
          </a:xfrm>
          <a:custGeom>
            <a:avLst/>
            <a:gdLst/>
            <a:ahLst/>
            <a:cxnLst/>
            <a:rect r="r" b="b" t="t" l="l"/>
            <a:pathLst>
              <a:path h="2325310" w="1938727">
                <a:moveTo>
                  <a:pt x="0" y="0"/>
                </a:moveTo>
                <a:lnTo>
                  <a:pt x="1938727" y="0"/>
                </a:lnTo>
                <a:lnTo>
                  <a:pt x="1938727" y="2325310"/>
                </a:lnTo>
                <a:lnTo>
                  <a:pt x="0" y="2325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75489" y="3780522"/>
            <a:ext cx="1921142" cy="2032954"/>
          </a:xfrm>
          <a:custGeom>
            <a:avLst/>
            <a:gdLst/>
            <a:ahLst/>
            <a:cxnLst/>
            <a:rect r="r" b="b" t="t" l="l"/>
            <a:pathLst>
              <a:path h="2032954" w="1921142">
                <a:moveTo>
                  <a:pt x="0" y="0"/>
                </a:moveTo>
                <a:lnTo>
                  <a:pt x="1921142" y="0"/>
                </a:lnTo>
                <a:lnTo>
                  <a:pt x="1921142" y="2032955"/>
                </a:lnTo>
                <a:lnTo>
                  <a:pt x="0" y="20329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73813" y="4045385"/>
            <a:ext cx="2353533" cy="1768092"/>
          </a:xfrm>
          <a:custGeom>
            <a:avLst/>
            <a:gdLst/>
            <a:ahLst/>
            <a:cxnLst/>
            <a:rect r="r" b="b" t="t" l="l"/>
            <a:pathLst>
              <a:path h="1768092" w="2353533">
                <a:moveTo>
                  <a:pt x="0" y="0"/>
                </a:moveTo>
                <a:lnTo>
                  <a:pt x="2353533" y="0"/>
                </a:lnTo>
                <a:lnTo>
                  <a:pt x="2353533" y="1768092"/>
                </a:lnTo>
                <a:lnTo>
                  <a:pt x="0" y="1768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09317" y="3641218"/>
            <a:ext cx="2311563" cy="2311563"/>
          </a:xfrm>
          <a:custGeom>
            <a:avLst/>
            <a:gdLst/>
            <a:ahLst/>
            <a:cxnLst/>
            <a:rect r="r" b="b" t="t" l="l"/>
            <a:pathLst>
              <a:path h="2311563" w="2311563">
                <a:moveTo>
                  <a:pt x="0" y="0"/>
                </a:moveTo>
                <a:lnTo>
                  <a:pt x="2311563" y="0"/>
                </a:lnTo>
                <a:lnTo>
                  <a:pt x="2311563" y="2311563"/>
                </a:lnTo>
                <a:lnTo>
                  <a:pt x="0" y="2311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85927" y="3715218"/>
            <a:ext cx="2387381" cy="2163564"/>
          </a:xfrm>
          <a:custGeom>
            <a:avLst/>
            <a:gdLst/>
            <a:ahLst/>
            <a:cxnLst/>
            <a:rect r="r" b="b" t="t" l="l"/>
            <a:pathLst>
              <a:path h="2163564" w="2387381">
                <a:moveTo>
                  <a:pt x="0" y="0"/>
                </a:moveTo>
                <a:lnTo>
                  <a:pt x="2387380" y="0"/>
                </a:lnTo>
                <a:lnTo>
                  <a:pt x="2387380" y="2163563"/>
                </a:lnTo>
                <a:lnTo>
                  <a:pt x="0" y="21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733425"/>
            <a:ext cx="97631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Tecnologías Utilizadas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39236" y="6418377"/>
            <a:ext cx="2741003" cy="1452245"/>
            <a:chOff x="0" y="0"/>
            <a:chExt cx="3654671" cy="193632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473922"/>
              <a:ext cx="3654671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Django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API Rest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IA de Perplexity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3654671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BACKEND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252394" y="6435204"/>
            <a:ext cx="2738294" cy="709295"/>
            <a:chOff x="0" y="0"/>
            <a:chExt cx="3651059" cy="94572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473922"/>
              <a:ext cx="3651059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SQLite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47625"/>
              <a:ext cx="365105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BASE DE DATOS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66913" y="6435204"/>
            <a:ext cx="2877087" cy="1452245"/>
            <a:chOff x="0" y="0"/>
            <a:chExt cx="3836116" cy="193632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73922"/>
              <a:ext cx="3836116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Django Templates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Bootstrap5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Responsive Design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3836116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FRONTEND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81432" y="6435204"/>
            <a:ext cx="2738294" cy="709295"/>
            <a:chOff x="0" y="0"/>
            <a:chExt cx="3651059" cy="94572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473922"/>
              <a:ext cx="3651059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ChartJS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47625"/>
              <a:ext cx="365105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DASHBOARD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95951" y="6435204"/>
            <a:ext cx="2738294" cy="2938145"/>
            <a:chOff x="0" y="0"/>
            <a:chExt cx="3651059" cy="3917527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473922"/>
              <a:ext cx="3651059" cy="3443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NVDA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Keyboard Focus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TTS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ARIA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Luminance Contrast Ratio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DOM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47625"/>
              <a:ext cx="365105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ACCESIBILIDAD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310470" y="6418377"/>
            <a:ext cx="2738294" cy="2566670"/>
            <a:chOff x="0" y="0"/>
            <a:chExt cx="3651059" cy="3422227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473922"/>
              <a:ext cx="3651059" cy="2948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Python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Javascript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HTML5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CSS3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SQL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UML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47625"/>
              <a:ext cx="365105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LENGUAJES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36066" y="875233"/>
            <a:ext cx="1341586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Ideas de Escalabilidad y Mejoras Futuras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8374" y="2643502"/>
            <a:ext cx="4977604" cy="4531597"/>
            <a:chOff x="0" y="0"/>
            <a:chExt cx="6636805" cy="60421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95851"/>
              <a:ext cx="6636805" cy="5446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27"/>
                </a:lnSpc>
              </a:pPr>
            </a:p>
            <a:p>
              <a:pPr algn="just" marL="559386" indent="-279693" lvl="1">
                <a:lnSpc>
                  <a:spcPts val="3627"/>
                </a:lnSpc>
                <a:buFont typeface="Arial"/>
                <a:buChar char="•"/>
              </a:pP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Id</a:t>
              </a: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ea: Usar </a:t>
              </a:r>
              <a:r>
                <a:rPr lang="en-US" b="true" sz="259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Machine Learning</a:t>
              </a: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para analizar tendencias de ventas e</a:t>
              </a: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 el dashboard para predecir cuándo se acabará un producto.</a:t>
              </a:r>
            </a:p>
            <a:p>
              <a:pPr algn="just">
                <a:lnSpc>
                  <a:spcPts val="3627"/>
                </a:lnSpc>
              </a:pPr>
            </a:p>
            <a:p>
              <a:pPr algn="just" marL="559386" indent="-279693" lvl="1">
                <a:lnSpc>
                  <a:spcPts val="3627"/>
                </a:lnSpc>
                <a:buFont typeface="Arial"/>
                <a:buChar char="•"/>
              </a:pP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Beneficio: Evita quiebres de stock.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6636805" cy="707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490"/>
                </a:lnSpc>
              </a:pPr>
              <a:r>
                <a:rPr lang="en-US" b="true" sz="320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PREDICCIÓN DE STOCK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69171" y="2643502"/>
            <a:ext cx="4802505" cy="6018180"/>
            <a:chOff x="0" y="0"/>
            <a:chExt cx="6403339" cy="802424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42336"/>
              <a:ext cx="6403339" cy="66819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7"/>
                </a:lnSpc>
              </a:pPr>
            </a:p>
            <a:p>
              <a:pPr algn="l" marL="559385" indent="-279693" lvl="1">
                <a:lnSpc>
                  <a:spcPts val="3627"/>
                </a:lnSpc>
                <a:buFont typeface="Arial"/>
                <a:buChar char="•"/>
              </a:pP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Id</a:t>
              </a: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ea: Permitir que usuarios se registre</a:t>
              </a: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 no solo para adoptar, sino como hogares temporales verificados.</a:t>
              </a:r>
            </a:p>
            <a:p>
              <a:pPr algn="l">
                <a:lnSpc>
                  <a:spcPts val="3627"/>
                </a:lnSpc>
              </a:pPr>
            </a:p>
            <a:p>
              <a:pPr algn="l" marL="559385" indent="-279693" lvl="1">
                <a:lnSpc>
                  <a:spcPts val="3627"/>
                </a:lnSpc>
                <a:buFont typeface="Arial"/>
                <a:buChar char="•"/>
              </a:pP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Beneficio: Amplía la capacidad de ayuda para las mascotas en sí, sin necesidad de infraestructura física.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6403339" cy="1456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90"/>
                </a:lnSpc>
              </a:pPr>
              <a:r>
                <a:rPr lang="en-US" b="true" sz="320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MÓDULO DE “HOGAR TEMPORAL”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57556" y="2643502"/>
            <a:ext cx="5001744" cy="5091461"/>
            <a:chOff x="0" y="0"/>
            <a:chExt cx="6668992" cy="678861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42336"/>
              <a:ext cx="6668992" cy="5446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27"/>
                </a:lnSpc>
              </a:pPr>
            </a:p>
            <a:p>
              <a:pPr algn="just" marL="559386" indent="-279693" lvl="1">
                <a:lnSpc>
                  <a:spcPts val="3627"/>
                </a:lnSpc>
                <a:buFont typeface="Arial"/>
                <a:buChar char="•"/>
              </a:pP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Id</a:t>
              </a: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ea: Una sección donde los usuarios suban fotos</a:t>
              </a: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de sus mascotas adoptadas.</a:t>
              </a:r>
            </a:p>
            <a:p>
              <a:pPr algn="just">
                <a:lnSpc>
                  <a:spcPts val="3627"/>
                </a:lnSpc>
              </a:pPr>
            </a:p>
            <a:p>
              <a:pPr algn="l" marL="559386" indent="-279693" lvl="1">
                <a:lnSpc>
                  <a:spcPts val="3627"/>
                </a:lnSpc>
                <a:buFont typeface="Arial"/>
                <a:buChar char="•"/>
              </a:pPr>
              <a:r>
                <a:rPr lang="en-US" sz="259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Beneficio: Genera comunidad e incentiva las adopciones.</a:t>
              </a:r>
            </a:p>
            <a:p>
              <a:pPr algn="just">
                <a:lnSpc>
                  <a:spcPts val="3627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6668992" cy="1456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490"/>
                </a:lnSpc>
              </a:pPr>
              <a:r>
                <a:rPr lang="en-US" b="true" sz="320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SECCIÓN DE “HISTORIAS DE ÉXITO”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853601" y="5048538"/>
            <a:ext cx="1980780" cy="1980780"/>
          </a:xfrm>
          <a:custGeom>
            <a:avLst/>
            <a:gdLst/>
            <a:ahLst/>
            <a:cxnLst/>
            <a:rect r="r" b="b" t="t" l="l"/>
            <a:pathLst>
              <a:path h="1980780" w="1980780">
                <a:moveTo>
                  <a:pt x="0" y="0"/>
                </a:moveTo>
                <a:lnTo>
                  <a:pt x="1980780" y="0"/>
                </a:lnTo>
                <a:lnTo>
                  <a:pt x="1980780" y="1980780"/>
                </a:lnTo>
                <a:lnTo>
                  <a:pt x="0" y="198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75667" y="3338523"/>
            <a:ext cx="11136666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</a:pPr>
            <a:r>
              <a:rPr lang="en-US" sz="3500">
                <a:solidFill>
                  <a:srgbClr val="0A7990"/>
                </a:solidFill>
                <a:latin typeface="DM Sans"/>
                <a:ea typeface="DM Sans"/>
                <a:cs typeface="DM Sans"/>
                <a:sym typeface="DM Sans"/>
              </a:rPr>
              <a:t>PetStorePOS promueve la conexión entre humanos y animales, el comercio electrónico y las adopciones responsables. Facilitando el acceso a servicios de mascotas para usuarios de distintas culturas, que hablen distintos lenguajes, y con condiciones que difieren de individuo a individuo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44253" y="3129634"/>
            <a:ext cx="2199476" cy="2133814"/>
          </a:xfrm>
          <a:custGeom>
            <a:avLst/>
            <a:gdLst/>
            <a:ahLst/>
            <a:cxnLst/>
            <a:rect r="r" b="b" t="t" l="l"/>
            <a:pathLst>
              <a:path h="2133814" w="2199476">
                <a:moveTo>
                  <a:pt x="0" y="0"/>
                </a:moveTo>
                <a:lnTo>
                  <a:pt x="2199476" y="0"/>
                </a:lnTo>
                <a:lnTo>
                  <a:pt x="2199476" y="2133813"/>
                </a:lnTo>
                <a:lnTo>
                  <a:pt x="0" y="2133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77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18212" y="1095375"/>
            <a:ext cx="5851576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>
                <a:solidFill>
                  <a:srgbClr val="0A799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Sistema completo</dc:description>
  <dc:identifier>DAG6lrlYYIQ</dc:identifier>
  <dcterms:modified xsi:type="dcterms:W3CDTF">2011-08-01T06:04:30Z</dcterms:modified>
  <cp:revision>1</cp:revision>
  <dc:title>Copia de Presentación - Sistema completo</dc:title>
</cp:coreProperties>
</file>