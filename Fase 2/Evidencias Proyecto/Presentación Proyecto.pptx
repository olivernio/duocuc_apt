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8288000" cy="10287000"/>
  <p:notesSz cx="6858000" cy="9144000"/>
  <p:embeddedFontLst>
    <p:embeddedFont>
      <p:font typeface="Georgia Pro Light" charset="1" panose="02040302050405020303"/>
      <p:regular r:id="rId15"/>
    </p:embeddedFont>
    <p:embeddedFont>
      <p:font typeface="DM Sans Bold" charset="1" panose="00000000000000000000"/>
      <p:regular r:id="rId16"/>
    </p:embeddedFont>
    <p:embeddedFont>
      <p:font typeface="DM Sans" charset="1" panose="00000000000000000000"/>
      <p:regular r:id="rId17"/>
    </p:embeddedFont>
    <p:embeddedFont>
      <p:font typeface="DM Sans Italics" charset="1" panose="00000000000000000000"/>
      <p:regular r:id="rId18"/>
    </p:embeddedFont>
    <p:embeddedFont>
      <p:font typeface="Georgia Pro" charset="1" panose="02040502050405020303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Relationship Id="rId3" Target="../media/image5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Relationship Id="rId3" Target="../media/image8.png" Type="http://schemas.openxmlformats.org/officeDocument/2006/relationships/image"/><Relationship Id="rId4" Target="../media/image9.svg" Type="http://schemas.openxmlformats.org/officeDocument/2006/relationships/image"/><Relationship Id="rId5" Target="../media/image10.png" Type="http://schemas.openxmlformats.org/officeDocument/2006/relationships/image"/><Relationship Id="rId6" Target="../media/image11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0.png" Type="http://schemas.openxmlformats.org/officeDocument/2006/relationships/image"/><Relationship Id="rId11" Target="../media/image11.svg" Type="http://schemas.openxmlformats.org/officeDocument/2006/relationships/image"/><Relationship Id="rId12" Target="../media/image20.png" Type="http://schemas.openxmlformats.org/officeDocument/2006/relationships/image"/><Relationship Id="rId13" Target="../media/image21.svg" Type="http://schemas.openxmlformats.org/officeDocument/2006/relationships/image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14.png" Type="http://schemas.openxmlformats.org/officeDocument/2006/relationships/image"/><Relationship Id="rId5" Target="../media/image15.svg" Type="http://schemas.openxmlformats.org/officeDocument/2006/relationships/image"/><Relationship Id="rId6" Target="../media/image16.png" Type="http://schemas.openxmlformats.org/officeDocument/2006/relationships/image"/><Relationship Id="rId7" Target="../media/image17.svg" Type="http://schemas.openxmlformats.org/officeDocument/2006/relationships/image"/><Relationship Id="rId8" Target="../media/image18.png" Type="http://schemas.openxmlformats.org/officeDocument/2006/relationships/image"/><Relationship Id="rId9" Target="../media/image19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Relationship Id="rId3" Target="../media/image23.svg" Type="http://schemas.openxmlformats.org/officeDocument/2006/relationships/image"/><Relationship Id="rId4" Target="../media/image24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DFD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8991600" cy="10287000"/>
            <a:chOff x="0" y="0"/>
            <a:chExt cx="1035548" cy="118473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35548" cy="1184737"/>
            </a:xfrm>
            <a:custGeom>
              <a:avLst/>
              <a:gdLst/>
              <a:ahLst/>
              <a:cxnLst/>
              <a:rect r="r" b="b" t="t" l="l"/>
              <a:pathLst>
                <a:path h="1184737" w="1035548">
                  <a:moveTo>
                    <a:pt x="0" y="0"/>
                  </a:moveTo>
                  <a:lnTo>
                    <a:pt x="1035548" y="0"/>
                  </a:lnTo>
                  <a:lnTo>
                    <a:pt x="1035548" y="1184737"/>
                  </a:lnTo>
                  <a:lnTo>
                    <a:pt x="0" y="1184737"/>
                  </a:lnTo>
                  <a:close/>
                </a:path>
              </a:pathLst>
            </a:custGeom>
            <a:blipFill>
              <a:blip r:embed="rId2"/>
              <a:stretch>
                <a:fillRect l="0" t="-378" r="0" b="-378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703131" y="664721"/>
            <a:ext cx="6877050" cy="585084"/>
            <a:chOff x="0" y="0"/>
            <a:chExt cx="9169400" cy="780112"/>
          </a:xfrm>
        </p:grpSpPr>
        <p:sp>
          <p:nvSpPr>
            <p:cNvPr name="Freeform 5" id="5"/>
            <p:cNvSpPr/>
            <p:nvPr/>
          </p:nvSpPr>
          <p:spPr>
            <a:xfrm flipH="true" flipV="false" rot="-5400000">
              <a:off x="36553" y="74861"/>
              <a:ext cx="555143" cy="628248"/>
            </a:xfrm>
            <a:custGeom>
              <a:avLst/>
              <a:gdLst/>
              <a:ahLst/>
              <a:cxnLst/>
              <a:rect r="r" b="b" t="t" l="l"/>
              <a:pathLst>
                <a:path h="628248" w="555143">
                  <a:moveTo>
                    <a:pt x="555143" y="0"/>
                  </a:moveTo>
                  <a:lnTo>
                    <a:pt x="0" y="0"/>
                  </a:lnTo>
                  <a:lnTo>
                    <a:pt x="0" y="628248"/>
                  </a:lnTo>
                  <a:lnTo>
                    <a:pt x="555143" y="628248"/>
                  </a:lnTo>
                  <a:lnTo>
                    <a:pt x="555143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 rot="0">
              <a:off x="795304" y="95250"/>
              <a:ext cx="8374096" cy="6848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555"/>
                </a:lnSpc>
              </a:pPr>
              <a:r>
                <a:rPr lang="en-US" sz="3864" spc="-77">
                  <a:solidFill>
                    <a:srgbClr val="000000"/>
                  </a:solidFill>
                  <a:latin typeface="Georgia Pro Light"/>
                  <a:ea typeface="Georgia Pro Light"/>
                  <a:cs typeface="Georgia Pro Light"/>
                  <a:sym typeface="Georgia Pro Light"/>
                </a:rPr>
                <a:t>Capstone - PetStorePOS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9693606" y="1764154"/>
            <a:ext cx="7411872" cy="27146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499"/>
              </a:lnSpc>
            </a:pPr>
            <a:r>
              <a:rPr lang="en-US" sz="10499">
                <a:solidFill>
                  <a:srgbClr val="000000"/>
                </a:solidFill>
                <a:latin typeface="Georgia Pro Light"/>
                <a:ea typeface="Georgia Pro Light"/>
                <a:cs typeface="Georgia Pro Light"/>
                <a:sym typeface="Georgia Pro Light"/>
              </a:rPr>
              <a:t>PetStore</a:t>
            </a:r>
          </a:p>
          <a:p>
            <a:pPr algn="l" marL="0" indent="0" lvl="0">
              <a:lnSpc>
                <a:spcPts val="10499"/>
              </a:lnSpc>
            </a:pPr>
            <a:r>
              <a:rPr lang="en-US" sz="10499">
                <a:solidFill>
                  <a:srgbClr val="000000"/>
                </a:solidFill>
                <a:latin typeface="Georgia Pro Light"/>
                <a:ea typeface="Georgia Pro Light"/>
                <a:cs typeface="Georgia Pro Light"/>
                <a:sym typeface="Georgia Pro Light"/>
              </a:rPr>
              <a:t>Point Of Sale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703131" y="6428074"/>
            <a:ext cx="3705936" cy="1927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50"/>
              </a:lnSpc>
            </a:pPr>
            <a:r>
              <a:rPr lang="en-US" sz="2750" b="true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Integrantes</a:t>
            </a:r>
            <a:r>
              <a:rPr lang="en-US" sz="275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:</a:t>
            </a:r>
          </a:p>
          <a:p>
            <a:pPr algn="l" marL="593730" indent="-296865" lvl="1">
              <a:lnSpc>
                <a:spcPts val="3850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Fabián Valenzuela</a:t>
            </a:r>
          </a:p>
          <a:p>
            <a:pPr algn="l" marL="593730" indent="-296865" lvl="1">
              <a:lnSpc>
                <a:spcPts val="3850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Martín Mondaca</a:t>
            </a:r>
          </a:p>
          <a:p>
            <a:pPr algn="l" marL="593730" indent="-296865" lvl="1">
              <a:lnSpc>
                <a:spcPts val="3850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Diego Silva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3835665" y="6465786"/>
            <a:ext cx="4377658" cy="983960"/>
            <a:chOff x="0" y="0"/>
            <a:chExt cx="5836877" cy="131194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709756"/>
              <a:ext cx="5836877" cy="6021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850"/>
                </a:lnSpc>
                <a:spcBef>
                  <a:spcPct val="0"/>
                </a:spcBef>
              </a:pPr>
              <a:r>
                <a:rPr lang="en-US" sz="275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Aníbal Sotelo Becerra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47625"/>
              <a:ext cx="5836877" cy="6021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850"/>
                </a:lnSpc>
                <a:spcBef>
                  <a:spcPct val="0"/>
                </a:spcBef>
              </a:pPr>
              <a:r>
                <a:rPr lang="en-US" b="true" sz="275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Docente</a:t>
              </a: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3835665" y="7892294"/>
            <a:ext cx="2920103" cy="463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50"/>
              </a:lnSpc>
              <a:spcBef>
                <a:spcPct val="0"/>
              </a:spcBef>
            </a:pPr>
            <a:r>
              <a:rPr lang="en-US" b="true" sz="275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Sección 004D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703131" y="4645025"/>
            <a:ext cx="7556169" cy="9493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50"/>
              </a:lnSpc>
            </a:pPr>
            <a:r>
              <a:rPr lang="en-US" sz="2750" i="true">
                <a:solidFill>
                  <a:srgbClr val="000000"/>
                </a:solidFill>
                <a:latin typeface="DM Sans Italics"/>
                <a:ea typeface="DM Sans Italics"/>
                <a:cs typeface="DM Sans Italics"/>
                <a:sym typeface="DM Sans Italics"/>
              </a:rPr>
              <a:t>Un sistema de punto de venta de productos y adopción de mascotas con gran accesibilidad.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DFD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734675" y="0"/>
            <a:ext cx="7553325" cy="10287000"/>
            <a:chOff x="0" y="0"/>
            <a:chExt cx="1170208" cy="1593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70208" cy="1593725"/>
            </a:xfrm>
            <a:custGeom>
              <a:avLst/>
              <a:gdLst/>
              <a:ahLst/>
              <a:cxnLst/>
              <a:rect r="r" b="b" t="t" l="l"/>
              <a:pathLst>
                <a:path h="1593725" w="1170208">
                  <a:moveTo>
                    <a:pt x="0" y="0"/>
                  </a:moveTo>
                  <a:lnTo>
                    <a:pt x="1170208" y="0"/>
                  </a:lnTo>
                  <a:lnTo>
                    <a:pt x="1170208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l="0" t="-205" r="0" b="-205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734675" y="0"/>
            <a:ext cx="7553325" cy="10287000"/>
            <a:chOff x="0" y="0"/>
            <a:chExt cx="1170208" cy="159372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70208" cy="1593725"/>
            </a:xfrm>
            <a:custGeom>
              <a:avLst/>
              <a:gdLst/>
              <a:ahLst/>
              <a:cxnLst/>
              <a:rect r="r" b="b" t="t" l="l"/>
              <a:pathLst>
                <a:path h="1593725" w="1170208">
                  <a:moveTo>
                    <a:pt x="0" y="0"/>
                  </a:moveTo>
                  <a:lnTo>
                    <a:pt x="1170208" y="0"/>
                  </a:lnTo>
                  <a:lnTo>
                    <a:pt x="1170208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3"/>
              <a:stretch>
                <a:fillRect l="0" t="-205" r="0" b="-205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670147" y="852164"/>
            <a:ext cx="7607567" cy="730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500"/>
              </a:lnSpc>
            </a:pPr>
            <a:r>
              <a:rPr lang="en-US" sz="5000">
                <a:solidFill>
                  <a:srgbClr val="000000"/>
                </a:solidFill>
                <a:latin typeface="Georgia Pro"/>
                <a:ea typeface="Georgia Pro"/>
                <a:cs typeface="Georgia Pro"/>
                <a:sym typeface="Georgia Pro"/>
              </a:rPr>
              <a:t>El Problema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70147" y="1797438"/>
            <a:ext cx="9561285" cy="3758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Las tiendas de mascotas dependen de múltiples herramientas (una para el e-commerce, otra para adopciones), lo que resulta ineficiente y desarticulado.</a:t>
            </a:r>
          </a:p>
          <a:p>
            <a:pPr algn="l">
              <a:lnSpc>
                <a:spcPts val="3359"/>
              </a:lnSpc>
            </a:pPr>
          </a:p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La a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usencia de sistemas integrados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y accesibles limita la base de posibles clientes.</a:t>
            </a:r>
          </a:p>
          <a:p>
            <a:pPr algn="l">
              <a:lnSpc>
                <a:spcPts val="3359"/>
              </a:lnSpc>
            </a:pPr>
          </a:p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Esto afecta negativamente la experiencia de compra, para personas de distintas capacidades y culturas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70147" y="6700267"/>
            <a:ext cx="9561285" cy="2920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PetStorePOS es un 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sistema que ofrece una gestión unificada con:</a:t>
            </a:r>
          </a:p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E-commerce y proceso de pago.</a:t>
            </a:r>
          </a:p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Catálogo de productos y administración de inventario.</a:t>
            </a:r>
          </a:p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Plataforma de adopciones (con la API Huachitos.cl.)</a:t>
            </a:r>
          </a:p>
          <a:p>
            <a:pPr algn="l">
              <a:lnSpc>
                <a:spcPts val="3359"/>
              </a:lnSpc>
            </a:pPr>
          </a:p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Todo esto con opciones de accesibilidad como modos de contraste, disponibilidad de TTS y fuente modificable.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70147" y="5750942"/>
            <a:ext cx="7604170" cy="730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500"/>
              </a:lnSpc>
            </a:pPr>
            <a:r>
              <a:rPr lang="en-US" sz="5000">
                <a:solidFill>
                  <a:srgbClr val="000000"/>
                </a:solidFill>
                <a:latin typeface="Georgia Pro Light"/>
                <a:ea typeface="Georgia Pro Light"/>
                <a:cs typeface="Georgia Pro Light"/>
                <a:sym typeface="Georgia Pro Light"/>
              </a:rPr>
              <a:t>Nuestra Solución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DFD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734675" y="0"/>
            <a:ext cx="7553325" cy="10287000"/>
            <a:chOff x="0" y="0"/>
            <a:chExt cx="1170208" cy="1593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70208" cy="1593725"/>
            </a:xfrm>
            <a:custGeom>
              <a:avLst/>
              <a:gdLst/>
              <a:ahLst/>
              <a:cxnLst/>
              <a:rect r="r" b="b" t="t" l="l"/>
              <a:pathLst>
                <a:path h="1593725" w="1170208">
                  <a:moveTo>
                    <a:pt x="0" y="0"/>
                  </a:moveTo>
                  <a:lnTo>
                    <a:pt x="1170208" y="0"/>
                  </a:lnTo>
                  <a:lnTo>
                    <a:pt x="1170208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l="0" t="-205" r="0" b="-205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28700" y="1057275"/>
            <a:ext cx="8915809" cy="730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500"/>
              </a:lnSpc>
            </a:pPr>
            <a:r>
              <a:rPr lang="en-US" sz="5000">
                <a:solidFill>
                  <a:srgbClr val="000000"/>
                </a:solidFill>
                <a:latin typeface="Georgia Pro Light"/>
                <a:ea typeface="Georgia Pro Light"/>
                <a:cs typeface="Georgia Pro Light"/>
                <a:sym typeface="Georgia Pro Light"/>
              </a:rPr>
              <a:t>Alcance del Proyecto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1983574"/>
            <a:ext cx="8499949" cy="753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Lo que tiene PetStorePOS:</a:t>
            </a:r>
          </a:p>
          <a:p>
            <a:pPr algn="l">
              <a:lnSpc>
                <a:spcPts val="3359"/>
              </a:lnSpc>
            </a:pPr>
          </a:p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Punto de compra de productos para mascotas, más un carrito y un apartado de reseñas para quienes compren.</a:t>
            </a:r>
          </a:p>
          <a:p>
            <a:pPr algn="l">
              <a:lnSpc>
                <a:spcPts val="3359"/>
              </a:lnSpc>
            </a:pPr>
          </a:p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partado de adopción de mascotas, donde se pueden ver descripciones, edad, estado de salud y la opción de ir a la página de Huachitos.cl para adoptarlas.</a:t>
            </a:r>
          </a:p>
          <a:p>
            <a:pPr algn="l">
              <a:lnSpc>
                <a:spcPts val="3359"/>
              </a:lnSpc>
            </a:pPr>
          </a:p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Apartado de accesibilidad, con ajustes a los elementos visuales de la página, diseño responsivo y navegación por teclado.</a:t>
            </a:r>
          </a:p>
          <a:p>
            <a:pPr algn="l">
              <a:lnSpc>
                <a:spcPts val="3359"/>
              </a:lnSpc>
            </a:pPr>
          </a:p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Dashboard con visualización de varios elementos de la página, tales como ventas por mes, cantidad de mascotas adoptadas, especie más popular, etc.</a:t>
            </a:r>
          </a:p>
          <a:p>
            <a:pPr algn="l">
              <a:lnSpc>
                <a:spcPts val="3359"/>
              </a:lnSpc>
            </a:pPr>
          </a:p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hatbot básico para hacer de asistente virtual.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DFD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227404" y="0"/>
            <a:ext cx="5060596" cy="10287000"/>
            <a:chOff x="0" y="0"/>
            <a:chExt cx="784019" cy="1593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84019" cy="1593725"/>
            </a:xfrm>
            <a:custGeom>
              <a:avLst/>
              <a:gdLst/>
              <a:ahLst/>
              <a:cxnLst/>
              <a:rect r="r" b="b" t="t" l="l"/>
              <a:pathLst>
                <a:path h="1593725" w="784019">
                  <a:moveTo>
                    <a:pt x="0" y="0"/>
                  </a:moveTo>
                  <a:lnTo>
                    <a:pt x="784019" y="0"/>
                  </a:lnTo>
                  <a:lnTo>
                    <a:pt x="784019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l="-24322" t="0" r="-24322" b="0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2298905" y="2286820"/>
            <a:ext cx="1249092" cy="1152288"/>
          </a:xfrm>
          <a:custGeom>
            <a:avLst/>
            <a:gdLst/>
            <a:ahLst/>
            <a:cxnLst/>
            <a:rect r="r" b="b" t="t" l="l"/>
            <a:pathLst>
              <a:path h="1152288" w="1249092">
                <a:moveTo>
                  <a:pt x="0" y="0"/>
                </a:moveTo>
                <a:lnTo>
                  <a:pt x="1249092" y="0"/>
                </a:lnTo>
                <a:lnTo>
                  <a:pt x="1249092" y="1152288"/>
                </a:lnTo>
                <a:lnTo>
                  <a:pt x="0" y="115228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8382245" y="2286820"/>
            <a:ext cx="1249092" cy="1249092"/>
          </a:xfrm>
          <a:custGeom>
            <a:avLst/>
            <a:gdLst/>
            <a:ahLst/>
            <a:cxnLst/>
            <a:rect r="r" b="b" t="t" l="l"/>
            <a:pathLst>
              <a:path h="1249092" w="1249092">
                <a:moveTo>
                  <a:pt x="0" y="0"/>
                </a:moveTo>
                <a:lnTo>
                  <a:pt x="1249093" y="0"/>
                </a:lnTo>
                <a:lnTo>
                  <a:pt x="1249093" y="1249093"/>
                </a:lnTo>
                <a:lnTo>
                  <a:pt x="0" y="124909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66750" y="809571"/>
            <a:ext cx="10601138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</a:pPr>
            <a:r>
              <a:rPr lang="en-US" sz="6000">
                <a:solidFill>
                  <a:srgbClr val="000000"/>
                </a:solidFill>
                <a:latin typeface="Georgia Pro Light"/>
                <a:ea typeface="Georgia Pro Light"/>
                <a:cs typeface="Georgia Pro Light"/>
                <a:sym typeface="Georgia Pro Light"/>
              </a:rPr>
              <a:t>Problemas Durante el Desarrollo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410921" y="3813483"/>
            <a:ext cx="3375258" cy="4881245"/>
            <a:chOff x="0" y="0"/>
            <a:chExt cx="4500344" cy="6508327"/>
          </a:xfrm>
        </p:grpSpPr>
        <p:sp>
          <p:nvSpPr>
            <p:cNvPr name="TextBox 8" id="8"/>
            <p:cNvSpPr txBox="true"/>
            <p:nvPr/>
          </p:nvSpPr>
          <p:spPr>
            <a:xfrm rot="0">
              <a:off x="0" y="1083522"/>
              <a:ext cx="4500344" cy="54248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</a:p>
            <a:p>
              <a:pPr algn="l" marL="453390" indent="-226695" lvl="1">
                <a:lnSpc>
                  <a:spcPts val="2940"/>
                </a:lnSpc>
                <a:buFont typeface="Arial"/>
                <a:buChar char="•"/>
              </a:pPr>
              <a:r>
                <a:rPr lang="en-US" sz="21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Al querer implementar el chatbot, intentamos usar la API de OpenAI</a:t>
              </a:r>
            </a:p>
            <a:p>
              <a:pPr algn="l">
                <a:lnSpc>
                  <a:spcPts val="2940"/>
                </a:lnSpc>
              </a:pPr>
            </a:p>
            <a:p>
              <a:pPr algn="l" marL="453390" indent="-226695" lvl="1">
                <a:lnSpc>
                  <a:spcPts val="2940"/>
                </a:lnSpc>
                <a:buFont typeface="Arial"/>
                <a:buChar char="•"/>
              </a:pPr>
              <a:r>
                <a:rPr lang="en-US" sz="21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Sin embargo esta requería un pago o token para funcionar, por lo que nos vimos forzados a usar Sonar, la API de PerplexityAI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-47625"/>
              <a:ext cx="4500344" cy="11787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FALTA DE RECURSOS PARA CHATBOT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7001795" y="3861885"/>
            <a:ext cx="4009992" cy="5624195"/>
            <a:chOff x="0" y="0"/>
            <a:chExt cx="5346656" cy="7498927"/>
          </a:xfrm>
        </p:grpSpPr>
        <p:sp>
          <p:nvSpPr>
            <p:cNvPr name="TextBox 11" id="11"/>
            <p:cNvSpPr txBox="true"/>
            <p:nvPr/>
          </p:nvSpPr>
          <p:spPr>
            <a:xfrm rot="0">
              <a:off x="0" y="1083522"/>
              <a:ext cx="5346656" cy="64154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940"/>
                </a:lnSpc>
              </a:pPr>
            </a:p>
            <a:p>
              <a:pPr algn="l" marL="453390" indent="-226695" lvl="1">
                <a:lnSpc>
                  <a:spcPts val="2940"/>
                </a:lnSpc>
                <a:buFont typeface="Arial"/>
                <a:buChar char="•"/>
              </a:pPr>
              <a:r>
                <a:rPr lang="en-US" sz="21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Intentamos usar otras APIs gratuitas para traducir la página</a:t>
              </a:r>
              <a:r>
                <a:rPr lang="en-US" sz="21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.</a:t>
              </a:r>
            </a:p>
            <a:p>
              <a:pPr algn="l">
                <a:lnSpc>
                  <a:spcPts val="2940"/>
                </a:lnSpc>
              </a:pPr>
            </a:p>
            <a:p>
              <a:pPr algn="l" marL="453390" indent="-226695" lvl="1">
                <a:lnSpc>
                  <a:spcPts val="2940"/>
                </a:lnSpc>
                <a:buFont typeface="Arial"/>
                <a:buChar char="•"/>
              </a:pPr>
              <a:r>
                <a:rPr lang="en-US" sz="21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Sin embargo estas tenían problemas como tiempos de carga altos o falta de traducciones. </a:t>
              </a:r>
            </a:p>
            <a:p>
              <a:pPr algn="l">
                <a:lnSpc>
                  <a:spcPts val="2940"/>
                </a:lnSpc>
              </a:pPr>
            </a:p>
            <a:p>
              <a:pPr algn="l" marL="453390" indent="-226695" lvl="1">
                <a:lnSpc>
                  <a:spcPts val="2940"/>
                </a:lnSpc>
                <a:buFont typeface="Arial"/>
                <a:buChar char="•"/>
              </a:pPr>
              <a:r>
                <a:rPr lang="en-US" sz="21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Decidimos usar Google Translate para la página en su lugar.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0" y="-47625"/>
              <a:ext cx="5346656" cy="11787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MALA LOCALIZACIÓN DE OTRAS APIS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DFD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734675" y="0"/>
            <a:ext cx="7553325" cy="10287000"/>
            <a:chOff x="0" y="0"/>
            <a:chExt cx="1170208" cy="1593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70208" cy="1593725"/>
            </a:xfrm>
            <a:custGeom>
              <a:avLst/>
              <a:gdLst/>
              <a:ahLst/>
              <a:cxnLst/>
              <a:rect r="r" b="b" t="t" l="l"/>
              <a:pathLst>
                <a:path h="1593725" w="1170208">
                  <a:moveTo>
                    <a:pt x="0" y="0"/>
                  </a:moveTo>
                  <a:lnTo>
                    <a:pt x="1170208" y="0"/>
                  </a:lnTo>
                  <a:lnTo>
                    <a:pt x="1170208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l="0" t="-205" r="0" b="-205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666750" y="731794"/>
            <a:ext cx="8473853" cy="128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950"/>
              </a:lnSpc>
            </a:pPr>
            <a:r>
              <a:rPr lang="en-US" sz="4500">
                <a:solidFill>
                  <a:srgbClr val="000000"/>
                </a:solidFill>
                <a:latin typeface="Georgia Pro"/>
                <a:ea typeface="Georgia Pro"/>
                <a:cs typeface="Georgia Pro"/>
                <a:sym typeface="Georgia Pro"/>
              </a:rPr>
              <a:t>Sobre la Importancia de un Sistema Accesible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66750" y="2332572"/>
            <a:ext cx="9539398" cy="487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Nos enfocamos tanto en las capacidades del servicio como a la localización y accesibilidad ya que:</a:t>
            </a:r>
          </a:p>
          <a:p>
            <a:pPr algn="l">
              <a:lnSpc>
                <a:spcPts val="3359"/>
              </a:lnSpc>
            </a:pPr>
          </a:p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A7990"/>
                </a:solidFill>
                <a:latin typeface="DM Sans"/>
                <a:ea typeface="DM Sans"/>
                <a:cs typeface="DM Sans"/>
                <a:sym typeface="DM Sans"/>
              </a:rPr>
              <a:t>Aproximadamente 1.300 millones de personas padecen de alguna discapacidad.</a:t>
            </a:r>
          </a:p>
          <a:p>
            <a:pPr algn="l" marL="1036320" indent="-345440" lvl="2">
              <a:lnSpc>
                <a:spcPts val="3359"/>
              </a:lnSpc>
              <a:buFont typeface="Arial"/>
              <a:buChar char="⚬"/>
            </a:pPr>
            <a:r>
              <a:rPr lang="en-US" sz="2400">
                <a:solidFill>
                  <a:srgbClr val="0A7990"/>
                </a:solidFill>
                <a:latin typeface="DM Sans"/>
                <a:ea typeface="DM Sans"/>
                <a:cs typeface="DM Sans"/>
                <a:sym typeface="DM Sans"/>
              </a:rPr>
              <a:t>El 80% de estos casos en países en desarrollo (como Chile)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</a:p>
          <a:p>
            <a:pPr algn="l" marL="906783" indent="-302261" lvl="2">
              <a:lnSpc>
                <a:spcPts val="2940"/>
              </a:lnSpc>
              <a:buFont typeface="Arial"/>
              <a:buChar char="⚬"/>
            </a:pPr>
            <a:r>
              <a:rPr lang="en-US" b="true" sz="21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Fuente: ONU, Reporte sobre el día mundial de la discapacidad, 3 de diciembre de 2025.</a:t>
            </a:r>
          </a:p>
          <a:p>
            <a:pPr algn="l">
              <a:lnSpc>
                <a:spcPts val="3359"/>
              </a:lnSpc>
            </a:pPr>
          </a:p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A7990"/>
                </a:solidFill>
                <a:latin typeface="DM Sans"/>
                <a:ea typeface="DM Sans"/>
                <a:cs typeface="DM Sans"/>
                <a:sym typeface="DM Sans"/>
              </a:rPr>
              <a:t>Un estudio del </a:t>
            </a:r>
            <a:r>
              <a:rPr lang="en-US" b="true" sz="2400">
                <a:solidFill>
                  <a:srgbClr val="0A7990"/>
                </a:solidFill>
                <a:latin typeface="DM Sans Bold"/>
                <a:ea typeface="DM Sans Bold"/>
                <a:cs typeface="DM Sans Bold"/>
                <a:sym typeface="DM Sans Bold"/>
              </a:rPr>
              <a:t>Common Sense Advisory</a:t>
            </a:r>
            <a:r>
              <a:rPr lang="en-US" sz="2400">
                <a:solidFill>
                  <a:srgbClr val="0A7990"/>
                </a:solidFill>
                <a:latin typeface="DM Sans"/>
                <a:ea typeface="DM Sans"/>
                <a:cs typeface="DM Sans"/>
                <a:sym typeface="DM Sans"/>
              </a:rPr>
              <a:t> reveló que el 75% de las personas desean comprar productos en su idioma nativo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</a:p>
          <a:p>
            <a:pPr algn="l" marL="906783" indent="-302261" lvl="2">
              <a:lnSpc>
                <a:spcPts val="2940"/>
              </a:lnSpc>
              <a:buFont typeface="Arial"/>
              <a:buChar char="⚬"/>
            </a:pPr>
            <a:r>
              <a:rPr lang="en-US" b="true" sz="21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Fuente: Kinsta, Estadísticas de E-commerce para 2025.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DFD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734675" y="0"/>
            <a:ext cx="7553325" cy="10287000"/>
            <a:chOff x="0" y="0"/>
            <a:chExt cx="1170208" cy="1593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70208" cy="1593725"/>
            </a:xfrm>
            <a:custGeom>
              <a:avLst/>
              <a:gdLst/>
              <a:ahLst/>
              <a:cxnLst/>
              <a:rect r="r" b="b" t="t" l="l"/>
              <a:pathLst>
                <a:path h="1593725" w="1170208">
                  <a:moveTo>
                    <a:pt x="0" y="0"/>
                  </a:moveTo>
                  <a:lnTo>
                    <a:pt x="1170208" y="0"/>
                  </a:lnTo>
                  <a:lnTo>
                    <a:pt x="1170208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l="0" t="-205" r="0" b="-205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28700" y="1057275"/>
            <a:ext cx="8473853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950"/>
              </a:lnSpc>
            </a:pPr>
            <a:r>
              <a:rPr lang="en-US" sz="4500">
                <a:solidFill>
                  <a:srgbClr val="000000"/>
                </a:solidFill>
                <a:latin typeface="Georgia Pro"/>
                <a:ea typeface="Georgia Pro"/>
                <a:cs typeface="Georgia Pro"/>
                <a:sym typeface="Georgia Pro"/>
              </a:rPr>
              <a:t>Objetivo General de PetStorePOS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1979545"/>
            <a:ext cx="9539398" cy="1663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Crear una página web que disponga de múltiples herramientas útiles para un punto de venta en línea y una plataforma de adopciones, con opciones de accesibilidad para incluir a un mayor número de personas en la lista de posibles usuarios.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4302868"/>
            <a:ext cx="8473853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950"/>
              </a:lnSpc>
            </a:pPr>
            <a:r>
              <a:rPr lang="en-US" sz="4500">
                <a:solidFill>
                  <a:srgbClr val="000000"/>
                </a:solidFill>
                <a:latin typeface="Georgia Pro"/>
                <a:ea typeface="Georgia Pro"/>
                <a:cs typeface="Georgia Pro"/>
                <a:sym typeface="Georgia Pro"/>
              </a:rPr>
              <a:t>Objetivos Específicos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5225137"/>
            <a:ext cx="9539398" cy="4177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Crear una página web que combine e-commerce, catálogos de producto, gestión y administración general.</a:t>
            </a:r>
          </a:p>
          <a:p>
            <a:pPr algn="l">
              <a:lnSpc>
                <a:spcPts val="3359"/>
              </a:lnSpc>
            </a:pPr>
          </a:p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 esto agregarle funciones de accesibilidad y localización acorde a las pautas WCAG (creadas por el W3C), que dicen que una página accesible debería ser </a:t>
            </a:r>
            <a:r>
              <a:rPr lang="en-US" b="true" sz="24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perceptible, operable, comprensible y robusta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</a:p>
          <a:p>
            <a:pPr algn="l">
              <a:lnSpc>
                <a:spcPts val="3359"/>
              </a:lnSpc>
            </a:pPr>
          </a:p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Facilitar de esta forma la navegación de la página para personas dificultadas, discapacitadas o de otra habla.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DFD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7625" y="3866035"/>
            <a:ext cx="2164226" cy="2099299"/>
          </a:xfrm>
          <a:custGeom>
            <a:avLst/>
            <a:gdLst/>
            <a:ahLst/>
            <a:cxnLst/>
            <a:rect r="r" b="b" t="t" l="l"/>
            <a:pathLst>
              <a:path h="2099299" w="2164226">
                <a:moveTo>
                  <a:pt x="0" y="0"/>
                </a:moveTo>
                <a:lnTo>
                  <a:pt x="2164225" y="0"/>
                </a:lnTo>
                <a:lnTo>
                  <a:pt x="2164225" y="2099299"/>
                </a:lnTo>
                <a:lnTo>
                  <a:pt x="0" y="209929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652178" y="3753029"/>
            <a:ext cx="1938727" cy="2325310"/>
          </a:xfrm>
          <a:custGeom>
            <a:avLst/>
            <a:gdLst/>
            <a:ahLst/>
            <a:cxnLst/>
            <a:rect r="r" b="b" t="t" l="l"/>
            <a:pathLst>
              <a:path h="2325310" w="1938727">
                <a:moveTo>
                  <a:pt x="0" y="0"/>
                </a:moveTo>
                <a:lnTo>
                  <a:pt x="1938727" y="0"/>
                </a:lnTo>
                <a:lnTo>
                  <a:pt x="1938727" y="2325310"/>
                </a:lnTo>
                <a:lnTo>
                  <a:pt x="0" y="23253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675489" y="3780522"/>
            <a:ext cx="1921142" cy="2032954"/>
          </a:xfrm>
          <a:custGeom>
            <a:avLst/>
            <a:gdLst/>
            <a:ahLst/>
            <a:cxnLst/>
            <a:rect r="r" b="b" t="t" l="l"/>
            <a:pathLst>
              <a:path h="2032954" w="1921142">
                <a:moveTo>
                  <a:pt x="0" y="0"/>
                </a:moveTo>
                <a:lnTo>
                  <a:pt x="1921142" y="0"/>
                </a:lnTo>
                <a:lnTo>
                  <a:pt x="1921142" y="2032955"/>
                </a:lnTo>
                <a:lnTo>
                  <a:pt x="0" y="203295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473813" y="4045385"/>
            <a:ext cx="2353533" cy="1768092"/>
          </a:xfrm>
          <a:custGeom>
            <a:avLst/>
            <a:gdLst/>
            <a:ahLst/>
            <a:cxnLst/>
            <a:rect r="r" b="b" t="t" l="l"/>
            <a:pathLst>
              <a:path h="1768092" w="2353533">
                <a:moveTo>
                  <a:pt x="0" y="0"/>
                </a:moveTo>
                <a:lnTo>
                  <a:pt x="2353533" y="0"/>
                </a:lnTo>
                <a:lnTo>
                  <a:pt x="2353533" y="1768092"/>
                </a:lnTo>
                <a:lnTo>
                  <a:pt x="0" y="176809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2509317" y="3641218"/>
            <a:ext cx="2311563" cy="2311563"/>
          </a:xfrm>
          <a:custGeom>
            <a:avLst/>
            <a:gdLst/>
            <a:ahLst/>
            <a:cxnLst/>
            <a:rect r="r" b="b" t="t" l="l"/>
            <a:pathLst>
              <a:path h="2311563" w="2311563">
                <a:moveTo>
                  <a:pt x="0" y="0"/>
                </a:moveTo>
                <a:lnTo>
                  <a:pt x="2311563" y="0"/>
                </a:lnTo>
                <a:lnTo>
                  <a:pt x="2311563" y="2311563"/>
                </a:lnTo>
                <a:lnTo>
                  <a:pt x="0" y="231156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5485927" y="3715218"/>
            <a:ext cx="2387381" cy="2163564"/>
          </a:xfrm>
          <a:custGeom>
            <a:avLst/>
            <a:gdLst/>
            <a:ahLst/>
            <a:cxnLst/>
            <a:rect r="r" b="b" t="t" l="l"/>
            <a:pathLst>
              <a:path h="2163564" w="2387381">
                <a:moveTo>
                  <a:pt x="0" y="0"/>
                </a:moveTo>
                <a:lnTo>
                  <a:pt x="2387380" y="0"/>
                </a:lnTo>
                <a:lnTo>
                  <a:pt x="2387380" y="2163563"/>
                </a:lnTo>
                <a:lnTo>
                  <a:pt x="0" y="21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666750" y="733425"/>
            <a:ext cx="9763125" cy="1149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00"/>
              </a:lnSpc>
              <a:spcBef>
                <a:spcPct val="0"/>
              </a:spcBef>
            </a:pPr>
            <a:r>
              <a:rPr lang="en-US" sz="8000">
                <a:solidFill>
                  <a:srgbClr val="000000"/>
                </a:solidFill>
                <a:latin typeface="Georgia Pro Light"/>
                <a:ea typeface="Georgia Pro Light"/>
                <a:cs typeface="Georgia Pro Light"/>
                <a:sym typeface="Georgia Pro Light"/>
              </a:rPr>
              <a:t>Tecnologías Utilizadas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239236" y="6418377"/>
            <a:ext cx="2741003" cy="1452245"/>
            <a:chOff x="0" y="0"/>
            <a:chExt cx="3654671" cy="193632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473922"/>
              <a:ext cx="3654671" cy="14624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453390" indent="-226695" lvl="1">
                <a:lnSpc>
                  <a:spcPts val="2940"/>
                </a:lnSpc>
                <a:buFont typeface="Arial"/>
                <a:buChar char="•"/>
              </a:pPr>
              <a:r>
                <a:rPr lang="en-US" sz="21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Django</a:t>
              </a:r>
            </a:p>
            <a:p>
              <a:pPr algn="l" marL="453390" indent="-226695" lvl="1">
                <a:lnSpc>
                  <a:spcPts val="2940"/>
                </a:lnSpc>
                <a:buFont typeface="Arial"/>
                <a:buChar char="•"/>
              </a:pPr>
              <a:r>
                <a:rPr lang="en-US" sz="21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API Rest</a:t>
              </a:r>
            </a:p>
            <a:p>
              <a:pPr algn="l" marL="453390" indent="-226695" lvl="1">
                <a:lnSpc>
                  <a:spcPts val="2940"/>
                </a:lnSpc>
                <a:buFont typeface="Arial"/>
                <a:buChar char="•"/>
              </a:pPr>
              <a:r>
                <a:rPr lang="en-US" sz="21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IA de Perplexity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47625"/>
              <a:ext cx="3654671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BACKEND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3252394" y="6435204"/>
            <a:ext cx="2738294" cy="709295"/>
            <a:chOff x="0" y="0"/>
            <a:chExt cx="3651059" cy="94572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473922"/>
              <a:ext cx="3651059" cy="4718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453390" indent="-226695" lvl="1">
                <a:lnSpc>
                  <a:spcPts val="2940"/>
                </a:lnSpc>
                <a:buFont typeface="Arial"/>
                <a:buChar char="•"/>
              </a:pPr>
              <a:r>
                <a:rPr lang="en-US" sz="21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SQLite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47625"/>
              <a:ext cx="3651059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BASE DE DATOS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6266913" y="6435204"/>
            <a:ext cx="2877087" cy="1452245"/>
            <a:chOff x="0" y="0"/>
            <a:chExt cx="3836116" cy="1936327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473922"/>
              <a:ext cx="3836116" cy="14624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453390" indent="-226695" lvl="1">
                <a:lnSpc>
                  <a:spcPts val="2940"/>
                </a:lnSpc>
                <a:buFont typeface="Arial"/>
                <a:buChar char="•"/>
              </a:pPr>
              <a:r>
                <a:rPr lang="en-US" sz="21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Django Templates</a:t>
              </a:r>
            </a:p>
            <a:p>
              <a:pPr algn="l" marL="453390" indent="-226695" lvl="1">
                <a:lnSpc>
                  <a:spcPts val="2940"/>
                </a:lnSpc>
                <a:buFont typeface="Arial"/>
                <a:buChar char="•"/>
              </a:pPr>
              <a:r>
                <a:rPr lang="en-US" sz="21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Bootstrap5</a:t>
              </a:r>
            </a:p>
            <a:p>
              <a:pPr algn="l" marL="453390" indent="-226695" lvl="1">
                <a:lnSpc>
                  <a:spcPts val="2940"/>
                </a:lnSpc>
                <a:buFont typeface="Arial"/>
                <a:buChar char="•"/>
              </a:pPr>
              <a:r>
                <a:rPr lang="en-US" sz="21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Responsive Design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-47625"/>
              <a:ext cx="3836116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FRONTEND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281432" y="6435204"/>
            <a:ext cx="2738294" cy="709295"/>
            <a:chOff x="0" y="0"/>
            <a:chExt cx="3651059" cy="945727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473922"/>
              <a:ext cx="3651059" cy="4718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453390" indent="-226695" lvl="1">
                <a:lnSpc>
                  <a:spcPts val="2940"/>
                </a:lnSpc>
                <a:buFont typeface="Arial"/>
                <a:buChar char="•"/>
              </a:pPr>
              <a:r>
                <a:rPr lang="en-US" sz="21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ChartJS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-47625"/>
              <a:ext cx="3651059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DASHBOARD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2295951" y="6435204"/>
            <a:ext cx="2738294" cy="2938145"/>
            <a:chOff x="0" y="0"/>
            <a:chExt cx="3651059" cy="3917527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473922"/>
              <a:ext cx="3651059" cy="34436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453390" indent="-226695" lvl="1">
                <a:lnSpc>
                  <a:spcPts val="2940"/>
                </a:lnSpc>
                <a:buFont typeface="Arial"/>
                <a:buChar char="•"/>
              </a:pPr>
              <a:r>
                <a:rPr lang="en-US" sz="21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NVDA</a:t>
              </a:r>
            </a:p>
            <a:p>
              <a:pPr algn="l" marL="453390" indent="-226695" lvl="1">
                <a:lnSpc>
                  <a:spcPts val="2940"/>
                </a:lnSpc>
                <a:buFont typeface="Arial"/>
                <a:buChar char="•"/>
              </a:pPr>
              <a:r>
                <a:rPr lang="en-US" sz="21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Keyboard Focus</a:t>
              </a:r>
            </a:p>
            <a:p>
              <a:pPr algn="l" marL="453390" indent="-226695" lvl="1">
                <a:lnSpc>
                  <a:spcPts val="2940"/>
                </a:lnSpc>
                <a:buFont typeface="Arial"/>
                <a:buChar char="•"/>
              </a:pPr>
              <a:r>
                <a:rPr lang="en-US" sz="21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TTS</a:t>
              </a:r>
            </a:p>
            <a:p>
              <a:pPr algn="l" marL="453390" indent="-226695" lvl="1">
                <a:lnSpc>
                  <a:spcPts val="2940"/>
                </a:lnSpc>
                <a:buFont typeface="Arial"/>
                <a:buChar char="•"/>
              </a:pPr>
              <a:r>
                <a:rPr lang="en-US" sz="21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ARIA</a:t>
              </a:r>
            </a:p>
            <a:p>
              <a:pPr algn="l" marL="453390" indent="-226695" lvl="1">
                <a:lnSpc>
                  <a:spcPts val="2940"/>
                </a:lnSpc>
                <a:buFont typeface="Arial"/>
                <a:buChar char="•"/>
              </a:pPr>
              <a:r>
                <a:rPr lang="en-US" sz="21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Luminance Contrast Ratio</a:t>
              </a:r>
            </a:p>
            <a:p>
              <a:pPr algn="l" marL="453390" indent="-226695" lvl="1">
                <a:lnSpc>
                  <a:spcPts val="2940"/>
                </a:lnSpc>
                <a:buFont typeface="Arial"/>
                <a:buChar char="•"/>
              </a:pPr>
              <a:r>
                <a:rPr lang="en-US" sz="21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DOM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-47625"/>
              <a:ext cx="3651059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ACCESIBILIDAD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5310470" y="6418377"/>
            <a:ext cx="2738294" cy="2566670"/>
            <a:chOff x="0" y="0"/>
            <a:chExt cx="3651059" cy="3422227"/>
          </a:xfrm>
        </p:grpSpPr>
        <p:sp>
          <p:nvSpPr>
            <p:cNvPr name="TextBox 25" id="25"/>
            <p:cNvSpPr txBox="true"/>
            <p:nvPr/>
          </p:nvSpPr>
          <p:spPr>
            <a:xfrm rot="0">
              <a:off x="0" y="473922"/>
              <a:ext cx="3651059" cy="29483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453390" indent="-226695" lvl="1">
                <a:lnSpc>
                  <a:spcPts val="2940"/>
                </a:lnSpc>
                <a:buFont typeface="Arial"/>
                <a:buChar char="•"/>
              </a:pPr>
              <a:r>
                <a:rPr lang="en-US" sz="21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Python</a:t>
              </a:r>
            </a:p>
            <a:p>
              <a:pPr algn="l" marL="453390" indent="-226695" lvl="1">
                <a:lnSpc>
                  <a:spcPts val="2940"/>
                </a:lnSpc>
                <a:buFont typeface="Arial"/>
                <a:buChar char="•"/>
              </a:pPr>
              <a:r>
                <a:rPr lang="en-US" sz="21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Javascript</a:t>
              </a:r>
            </a:p>
            <a:p>
              <a:pPr algn="l" marL="453390" indent="-226695" lvl="1">
                <a:lnSpc>
                  <a:spcPts val="2940"/>
                </a:lnSpc>
                <a:buFont typeface="Arial"/>
                <a:buChar char="•"/>
              </a:pPr>
              <a:r>
                <a:rPr lang="en-US" sz="21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HTML5</a:t>
              </a:r>
            </a:p>
            <a:p>
              <a:pPr algn="l" marL="453390" indent="-226695" lvl="1">
                <a:lnSpc>
                  <a:spcPts val="2940"/>
                </a:lnSpc>
                <a:buFont typeface="Arial"/>
                <a:buChar char="•"/>
              </a:pPr>
              <a:r>
                <a:rPr lang="en-US" sz="21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CSS3</a:t>
              </a:r>
            </a:p>
            <a:p>
              <a:pPr algn="l" marL="453390" indent="-226695" lvl="1">
                <a:lnSpc>
                  <a:spcPts val="2940"/>
                </a:lnSpc>
                <a:buFont typeface="Arial"/>
                <a:buChar char="•"/>
              </a:pPr>
              <a:r>
                <a:rPr lang="en-US" sz="21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SQL</a:t>
              </a:r>
            </a:p>
            <a:p>
              <a:pPr algn="l" marL="453390" indent="-226695" lvl="1">
                <a:lnSpc>
                  <a:spcPts val="2940"/>
                </a:lnSpc>
                <a:buFont typeface="Arial"/>
                <a:buChar char="•"/>
              </a:pPr>
              <a:r>
                <a:rPr lang="en-US" sz="21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UML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0" y="-47625"/>
              <a:ext cx="3651059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</a:pPr>
              <a:r>
                <a:rPr lang="en-US" b="true" sz="260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LENGUAJES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FDFD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436066" y="875233"/>
            <a:ext cx="13415869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</a:pPr>
            <a:r>
              <a:rPr lang="en-US" sz="6000">
                <a:solidFill>
                  <a:srgbClr val="000000"/>
                </a:solidFill>
                <a:latin typeface="Georgia Pro Light"/>
                <a:ea typeface="Georgia Pro Light"/>
                <a:cs typeface="Georgia Pro Light"/>
                <a:sym typeface="Georgia Pro Light"/>
              </a:rPr>
              <a:t>Ideas de Escalabilidad y Mejoras Futuras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88374" y="2643502"/>
            <a:ext cx="4977604" cy="4531597"/>
            <a:chOff x="0" y="0"/>
            <a:chExt cx="6636805" cy="6042129"/>
          </a:xfrm>
        </p:grpSpPr>
        <p:sp>
          <p:nvSpPr>
            <p:cNvPr name="TextBox 4" id="4"/>
            <p:cNvSpPr txBox="true"/>
            <p:nvPr/>
          </p:nvSpPr>
          <p:spPr>
            <a:xfrm rot="0">
              <a:off x="0" y="595851"/>
              <a:ext cx="6636805" cy="544627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3627"/>
                </a:lnSpc>
              </a:pPr>
            </a:p>
            <a:p>
              <a:pPr algn="just" marL="559386" indent="-279693" lvl="1">
                <a:lnSpc>
                  <a:spcPts val="3627"/>
                </a:lnSpc>
                <a:buFont typeface="Arial"/>
                <a:buChar char="•"/>
              </a:pPr>
              <a:r>
                <a:rPr lang="en-US" sz="259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Id</a:t>
              </a:r>
              <a:r>
                <a:rPr lang="en-US" sz="259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ea: Usar </a:t>
              </a:r>
              <a:r>
                <a:rPr lang="en-US" b="true" sz="2590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Machine Learning</a:t>
              </a:r>
              <a:r>
                <a:rPr lang="en-US" sz="259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 para analizar tendencias de ventas e</a:t>
              </a:r>
              <a:r>
                <a:rPr lang="en-US" sz="259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n el dashboard para predecir cuándo se acabará un producto.</a:t>
              </a:r>
            </a:p>
            <a:p>
              <a:pPr algn="just">
                <a:lnSpc>
                  <a:spcPts val="3627"/>
                </a:lnSpc>
              </a:pPr>
            </a:p>
            <a:p>
              <a:pPr algn="just" marL="559386" indent="-279693" lvl="1">
                <a:lnSpc>
                  <a:spcPts val="3627"/>
                </a:lnSpc>
                <a:buFont typeface="Arial"/>
                <a:buChar char="•"/>
              </a:pPr>
              <a:r>
                <a:rPr lang="en-US" sz="259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Beneficio: Evita quiebres de stock.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0" y="-66675"/>
              <a:ext cx="6636805" cy="70733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0" indent="0" lvl="0">
                <a:lnSpc>
                  <a:spcPts val="4490"/>
                </a:lnSpc>
              </a:pPr>
              <a:r>
                <a:rPr lang="en-US" b="true" sz="3207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PREDICCIÓN DE STOCK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269171" y="2643502"/>
            <a:ext cx="4802505" cy="6018180"/>
            <a:chOff x="0" y="0"/>
            <a:chExt cx="6403339" cy="8024240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42336"/>
              <a:ext cx="6403339" cy="66819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27"/>
                </a:lnSpc>
              </a:pPr>
            </a:p>
            <a:p>
              <a:pPr algn="l" marL="559385" indent="-279693" lvl="1">
                <a:lnSpc>
                  <a:spcPts val="3627"/>
                </a:lnSpc>
                <a:buFont typeface="Arial"/>
                <a:buChar char="•"/>
              </a:pPr>
              <a:r>
                <a:rPr lang="en-US" sz="259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Id</a:t>
              </a:r>
              <a:r>
                <a:rPr lang="en-US" sz="259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ea: Permitir que usuarios se registre</a:t>
              </a:r>
              <a:r>
                <a:rPr lang="en-US" sz="259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n no solo para adoptar, sino como hogares temporales verificados.</a:t>
              </a:r>
            </a:p>
            <a:p>
              <a:pPr algn="l">
                <a:lnSpc>
                  <a:spcPts val="3627"/>
                </a:lnSpc>
              </a:pPr>
            </a:p>
            <a:p>
              <a:pPr algn="l" marL="559385" indent="-279693" lvl="1">
                <a:lnSpc>
                  <a:spcPts val="3627"/>
                </a:lnSpc>
                <a:buFont typeface="Arial"/>
                <a:buChar char="•"/>
              </a:pPr>
              <a:r>
                <a:rPr lang="en-US" sz="259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Beneficio: Amplía la capacidad de ayuda para las mascotas en sí, sin necesidad de infraestructura física.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66675"/>
              <a:ext cx="6403339" cy="145663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4490"/>
                </a:lnSpc>
              </a:pPr>
              <a:r>
                <a:rPr lang="en-US" b="true" sz="3207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MÓDULO DE “HOGAR TEMPORAL”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2257556" y="2643502"/>
            <a:ext cx="5001744" cy="4634261"/>
            <a:chOff x="0" y="0"/>
            <a:chExt cx="6668992" cy="6179014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42336"/>
              <a:ext cx="6668992" cy="483667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3627"/>
                </a:lnSpc>
              </a:pPr>
            </a:p>
            <a:p>
              <a:pPr algn="just" marL="559386" indent="-279693" lvl="1">
                <a:lnSpc>
                  <a:spcPts val="3627"/>
                </a:lnSpc>
                <a:buFont typeface="Arial"/>
                <a:buChar char="•"/>
              </a:pPr>
              <a:r>
                <a:rPr lang="en-US" sz="259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Id</a:t>
              </a:r>
              <a:r>
                <a:rPr lang="en-US" sz="259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ea: Una sección donde los usuarios suban fotos</a:t>
              </a:r>
              <a:r>
                <a:rPr lang="en-US" sz="259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 de sus mascotas adoptadas.</a:t>
              </a:r>
            </a:p>
            <a:p>
              <a:pPr algn="just">
                <a:lnSpc>
                  <a:spcPts val="3627"/>
                </a:lnSpc>
              </a:pPr>
            </a:p>
            <a:p>
              <a:pPr algn="just" marL="559386" indent="-279693" lvl="1">
                <a:lnSpc>
                  <a:spcPts val="3627"/>
                </a:lnSpc>
                <a:buFont typeface="Arial"/>
                <a:buChar char="•"/>
              </a:pPr>
              <a:r>
                <a:rPr lang="en-US" sz="259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Beneficio: Genera comunidad.</a:t>
              </a:r>
            </a:p>
            <a:p>
              <a:pPr algn="just">
                <a:lnSpc>
                  <a:spcPts val="3627"/>
                </a:lnSpc>
              </a:pP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66675"/>
              <a:ext cx="6668992" cy="145663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0" indent="0" lvl="0">
                <a:lnSpc>
                  <a:spcPts val="4490"/>
                </a:lnSpc>
              </a:pPr>
              <a:r>
                <a:rPr lang="en-US" b="true" sz="3207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SECCIÓN DE “HISTORIAS DE ÉXITO”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DFD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853601" y="5048538"/>
            <a:ext cx="1980780" cy="1980780"/>
          </a:xfrm>
          <a:custGeom>
            <a:avLst/>
            <a:gdLst/>
            <a:ahLst/>
            <a:cxnLst/>
            <a:rect r="r" b="b" t="t" l="l"/>
            <a:pathLst>
              <a:path h="1980780" w="1980780">
                <a:moveTo>
                  <a:pt x="0" y="0"/>
                </a:moveTo>
                <a:lnTo>
                  <a:pt x="1980780" y="0"/>
                </a:lnTo>
                <a:lnTo>
                  <a:pt x="1980780" y="1980780"/>
                </a:lnTo>
                <a:lnTo>
                  <a:pt x="0" y="19807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575667" y="3338523"/>
            <a:ext cx="11136666" cy="3702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900"/>
              </a:lnSpc>
            </a:pPr>
            <a:r>
              <a:rPr lang="en-US" sz="3500">
                <a:solidFill>
                  <a:srgbClr val="0A7990"/>
                </a:solidFill>
                <a:latin typeface="DM Sans"/>
                <a:ea typeface="DM Sans"/>
                <a:cs typeface="DM Sans"/>
                <a:sym typeface="DM Sans"/>
              </a:rPr>
              <a:t>PetStorePOS promueve la conexión entre humanos y animales, el comercio electrónico y las adopciones responsables. Facilitando el acceso a servicios de mascotas para usuarios de distintas culturas, que hablen distintos lenguajes, y con condiciones que difieren de individuo a individuo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744253" y="3129634"/>
            <a:ext cx="2199476" cy="2133814"/>
          </a:xfrm>
          <a:custGeom>
            <a:avLst/>
            <a:gdLst/>
            <a:ahLst/>
            <a:cxnLst/>
            <a:rect r="r" b="b" t="t" l="l"/>
            <a:pathLst>
              <a:path h="2133814" w="2199476">
                <a:moveTo>
                  <a:pt x="0" y="0"/>
                </a:moveTo>
                <a:lnTo>
                  <a:pt x="2199476" y="0"/>
                </a:lnTo>
                <a:lnTo>
                  <a:pt x="2199476" y="2133813"/>
                </a:lnTo>
                <a:lnTo>
                  <a:pt x="0" y="2133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3077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218212" y="1095375"/>
            <a:ext cx="5851576" cy="1149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800"/>
              </a:lnSpc>
            </a:pPr>
            <a:r>
              <a:rPr lang="en-US" sz="8000">
                <a:solidFill>
                  <a:srgbClr val="0A7990"/>
                </a:solidFill>
                <a:latin typeface="Georgia Pro Light"/>
                <a:ea typeface="Georgia Pro Light"/>
                <a:cs typeface="Georgia Pro Light"/>
                <a:sym typeface="Georgia Pro Light"/>
              </a:rPr>
              <a:t>Conclusiones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Presentación - Sistema completo</dc:description>
  <dc:identifier>DAG6lrlYYIQ</dc:identifier>
  <dcterms:modified xsi:type="dcterms:W3CDTF">2011-08-01T06:04:30Z</dcterms:modified>
  <cp:revision>1</cp:revision>
  <dc:title>Copia de Presentación - Sistema completo</dc:title>
</cp:coreProperties>
</file>